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fc444fd26764a53" /><Relationship Type="http://schemas.openxmlformats.org/officeDocument/2006/relationships/extended-properties" Target="/docProps/app.xml" Id="R9ac4ff5cfdc94506" /><Relationship Type="http://schemas.openxmlformats.org/officeDocument/2006/relationships/officeDocument" Target="/ppt/presentation.xml" Id="R8e530e0514284852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4bcc29be4b614165"/>
  </p:sldMasterIdLst>
  <p:notesMasterIdLst>
    <p:notesMasterId xmlns:r="http://schemas.openxmlformats.org/officeDocument/2006/relationships" r:id="R36176b7a98b5468a"/>
  </p:notesMasterIdLst>
  <p:sldIdLst>
    <p:sldId xmlns:r="http://schemas.openxmlformats.org/officeDocument/2006/relationships" id="256" r:id="R2b5346b9688b4fce"/>
    <p:sldId xmlns:r="http://schemas.openxmlformats.org/officeDocument/2006/relationships" id="257" r:id="R7bab0e2658c3466d"/>
    <p:sldId xmlns:r="http://schemas.openxmlformats.org/officeDocument/2006/relationships" id="258" r:id="Ra5430094a0c64b99"/>
    <p:sldId xmlns:r="http://schemas.openxmlformats.org/officeDocument/2006/relationships" id="259" r:id="R8341d579b50c468e"/>
    <p:sldId xmlns:r="http://schemas.openxmlformats.org/officeDocument/2006/relationships" id="260" r:id="R91405c4862b14512"/>
    <p:sldId xmlns:r="http://schemas.openxmlformats.org/officeDocument/2006/relationships" id="261" r:id="R60e33f550e9f4e51"/>
    <p:sldId xmlns:r="http://schemas.openxmlformats.org/officeDocument/2006/relationships" id="262" r:id="Rb5b00df57f1544de"/>
    <p:sldId xmlns:r="http://schemas.openxmlformats.org/officeDocument/2006/relationships" id="263" r:id="Re20a1a50018a4b14"/>
    <p:sldId xmlns:r="http://schemas.openxmlformats.org/officeDocument/2006/relationships" id="264" r:id="R90580aabe09e4088"/>
    <p:sldId xmlns:r="http://schemas.openxmlformats.org/officeDocument/2006/relationships" id="265" r:id="Rd8b2a766c8904c57"/>
  </p:sldIdLst>
  <p:sldSz cx="12192000" cy="6858000"/>
  <p:notesSz cx="6858000" cy="9144000"/>
  <p:embeddedFontLst>
    <p:embeddedFont>
      <p:font typeface="Inter"/>
      <p:regular xmlns:r="http://schemas.openxmlformats.org/officeDocument/2006/relationships" r:id="R3fe3590cf8cf4276"/>
      <p:bold xmlns:r="http://schemas.openxmlformats.org/officeDocument/2006/relationships" r:id="Rf062805e0c1e472e"/>
    </p:embeddedFont>
    <p:embeddedFont>
      <p:font typeface="Inter Medium"/>
      <p:regular xmlns:r="http://schemas.openxmlformats.org/officeDocument/2006/relationships" r:id="R4b3c598f383c4e6f"/>
    </p:embeddedFont>
    <p:embeddedFont>
      <p:font typeface="Inter SemiBold"/>
      <p:regular xmlns:r="http://schemas.openxmlformats.org/officeDocument/2006/relationships" r:id="R60b15bf4f66b4115"/>
      <p:bold xmlns:r="http://schemas.openxmlformats.org/officeDocument/2006/relationships" r:id="Ra16b447a961a4c4c"/>
    </p:embeddedFont>
    <p:embeddedFont>
      <p:font typeface="OpenAI Sans"/>
      <p:regular xmlns:r="http://schemas.openxmlformats.org/officeDocument/2006/relationships" r:id="Rfd053c227f07440f"/>
      <p:bold xmlns:r="http://schemas.openxmlformats.org/officeDocument/2006/relationships" r:id="Re9e41f28278e4fed"/>
      <p:italic xmlns:r="http://schemas.openxmlformats.org/officeDocument/2006/relationships" r:id="R8a6c61ed5c684570"/>
      <p:boldItalic xmlns:r="http://schemas.openxmlformats.org/officeDocument/2006/relationships" r:id="R9c850f0625dc4aa9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d8836022914ca5" /><Relationship Type="http://schemas.openxmlformats.org/officeDocument/2006/relationships/slideMaster" Target="/ppt/slideMasters/slideMaster1.xml" Id="R4bcc29be4b614165" /><Relationship Type="http://schemas.openxmlformats.org/officeDocument/2006/relationships/notesMaster" Target="/ppt/notesMasters/notesMaster1.xml" Id="R36176b7a98b5468a" /><Relationship Type="http://schemas.openxmlformats.org/officeDocument/2006/relationships/presProps" Target="/ppt/presProps.xml" Id="R9983e0f7e17e4578" /><Relationship Type="http://schemas.openxmlformats.org/officeDocument/2006/relationships/viewProps" Target="/ppt/viewProps.xml" Id="R550f5f0ad2014027" /><Relationship Type="http://schemas.openxmlformats.org/officeDocument/2006/relationships/tableStyles" Target="/ppt/tableStyles.xml" Id="R2afd231abf1745ac" /><Relationship Type="http://schemas.openxmlformats.org/officeDocument/2006/relationships/font" Target="/ppt/fonts/font.dat" Id="R3fe3590cf8cf4276" /><Relationship Type="http://schemas.openxmlformats.org/officeDocument/2006/relationships/font" Target="/ppt/fonts/font2.dat" Id="Rf062805e0c1e472e" /><Relationship Type="http://schemas.openxmlformats.org/officeDocument/2006/relationships/font" Target="/ppt/fonts/font3.dat" Id="R4b3c598f383c4e6f" /><Relationship Type="http://schemas.openxmlformats.org/officeDocument/2006/relationships/font" Target="/ppt/fonts/font4.dat" Id="R60b15bf4f66b4115" /><Relationship Type="http://schemas.openxmlformats.org/officeDocument/2006/relationships/font" Target="/ppt/fonts/font5.dat" Id="Ra16b447a961a4c4c" /><Relationship Type="http://schemas.openxmlformats.org/officeDocument/2006/relationships/font" Target="/ppt/fonts/font6.dat" Id="Rfd053c227f07440f" /><Relationship Type="http://schemas.openxmlformats.org/officeDocument/2006/relationships/font" Target="/ppt/fonts/font7.dat" Id="Re9e41f28278e4fed" /><Relationship Type="http://schemas.openxmlformats.org/officeDocument/2006/relationships/font" Target="/ppt/fonts/font8.dat" Id="R8a6c61ed5c684570" /><Relationship Type="http://schemas.openxmlformats.org/officeDocument/2006/relationships/font" Target="/ppt/fonts/font9.dat" Id="R9c850f0625dc4aa9" /><Relationship Type="http://schemas.openxmlformats.org/officeDocument/2006/relationships/slide" Target="/ppt/slides/slide1.xml" Id="R2b5346b9688b4fce" /><Relationship Type="http://schemas.openxmlformats.org/officeDocument/2006/relationships/slide" Target="/ppt/slides/slide2.xml" Id="R7bab0e2658c3466d" /><Relationship Type="http://schemas.openxmlformats.org/officeDocument/2006/relationships/slide" Target="/ppt/slides/slide3.xml" Id="Ra5430094a0c64b99" /><Relationship Type="http://schemas.openxmlformats.org/officeDocument/2006/relationships/slide" Target="/ppt/slides/slide4.xml" Id="R8341d579b50c468e" /><Relationship Type="http://schemas.openxmlformats.org/officeDocument/2006/relationships/slide" Target="/ppt/slides/slide5.xml" Id="R91405c4862b14512" /><Relationship Type="http://schemas.openxmlformats.org/officeDocument/2006/relationships/slide" Target="/ppt/slides/slide6.xml" Id="R60e33f550e9f4e51" /><Relationship Type="http://schemas.openxmlformats.org/officeDocument/2006/relationships/slide" Target="/ppt/slides/slide7.xml" Id="Rb5b00df57f1544de" /><Relationship Type="http://schemas.openxmlformats.org/officeDocument/2006/relationships/slide" Target="/ppt/slides/slide8.xml" Id="Re20a1a50018a4b14" /><Relationship Type="http://schemas.openxmlformats.org/officeDocument/2006/relationships/slide" Target="/ppt/slides/slide9.xml" Id="R90580aabe09e4088" /><Relationship Type="http://schemas.openxmlformats.org/officeDocument/2006/relationships/slide" Target="/ppt/slides/slide10.xml" Id="Rd8b2a766c8904c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580c386fe445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lor Block Theme">
      <a:dk1>
        <a:srgbClr val="000000"/>
      </a:dk1>
      <a:lt1>
        <a:srgbClr val="FFFFFF"/>
      </a:lt1>
      <a:dk2>
        <a:srgbClr val="393939"/>
      </a:dk2>
      <a:lt2>
        <a:srgbClr val="F5F5F5"/>
      </a:lt2>
      <a:accent1>
        <a:srgbClr val="2ED978"/>
      </a:accent1>
      <a:accent2>
        <a:srgbClr val="9FB6FE"/>
      </a:accent2>
      <a:accent3>
        <a:srgbClr val="F3F161"/>
      </a:accent3>
      <a:accent4>
        <a:srgbClr val="FF5F27"/>
      </a:accent4>
      <a:accent5>
        <a:srgbClr val="5EC4FF"/>
      </a:accent5>
      <a:accent6>
        <a:srgbClr val="3C7DA3"/>
      </a:accent6>
      <a:hlink>
        <a:srgbClr val="FFA83A"/>
      </a:hlink>
      <a:folHlink>
        <a:srgbClr val="96607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lor Block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dc89167eaf4cdd" /><Relationship Type="http://schemas.openxmlformats.org/officeDocument/2006/relationships/notesMaster" Target="/ppt/notesMasters/notesMaster1.xml" Id="Rbb070981b8c9477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f4f57b6a494c07" /><Relationship Type="http://schemas.openxmlformats.org/officeDocument/2006/relationships/notesMaster" Target="/ppt/notesMasters/notesMaster1.xml" Id="Rd411efb54bc3415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bb0aa1f967f4cdf" /><Relationship Type="http://schemas.openxmlformats.org/officeDocument/2006/relationships/notesMaster" Target="/ppt/notesMasters/notesMaster1.xml" Id="R1d98be1d87ae419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f16594db5d742f5" /><Relationship Type="http://schemas.openxmlformats.org/officeDocument/2006/relationships/notesMaster" Target="/ppt/notesMasters/notesMaster1.xml" Id="R3f4f3f46088642a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7d47fb1825f4571" /><Relationship Type="http://schemas.openxmlformats.org/officeDocument/2006/relationships/notesMaster" Target="/ppt/notesMasters/notesMaster1.xml" Id="R07976d38379e405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4771a925afa4cb0" /><Relationship Type="http://schemas.openxmlformats.org/officeDocument/2006/relationships/notesMaster" Target="/ppt/notesMasters/notesMaster1.xml" Id="R1254d9aa99cf41e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688a7426aaf4fb3" /><Relationship Type="http://schemas.openxmlformats.org/officeDocument/2006/relationships/notesMaster" Target="/ppt/notesMasters/notesMaster1.xml" Id="Raa6f2e5c0f1d439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c3be77f2a3a491b" /><Relationship Type="http://schemas.openxmlformats.org/officeDocument/2006/relationships/notesMaster" Target="/ppt/notesMasters/notesMaster1.xml" Id="R7c242fe0aa64461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41cb4c961024853" /><Relationship Type="http://schemas.openxmlformats.org/officeDocument/2006/relationships/notesMaster" Target="/ppt/notesMasters/notesMaster1.xml" Id="R074c3aa2e0b544c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200153cbb6a4808" /><Relationship Type="http://schemas.openxmlformats.org/officeDocument/2006/relationships/notesMaster" Target="/ppt/notesMasters/notesMaster1.xml" Id="Ref1c9b447b704d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Təqdimat Team Alignment şablonu əsasında hazırlanıb.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Mənbə: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https://ich.unesco.org/en/state/azerbaijan-AZ?info=elements-on-the-lists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Mənbə: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https://ich.unesco.org/en/RL/azerbaijani-mugham-00039?RL=00039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Şəkil: istifadəçi tərəfindən təqdim edilib.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Mənbə: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https://ich.unesco.org/en/RL/traditional-art-of-azerbaijani-carpet-weaving-in-the-republic-of-azerbaijan-00389?RL=00389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Şəkillər: istifadəçi tərəfindən təqdim edilib.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Mənbə: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https://ich.unesco.org/en/RL/traditional-art-and-symbolism-of-kelaghayi-making-and-wearing-women-s-silk-headscarves-00669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Şəkil: istifadəçi tərəfindən təqdim edilib.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Mənbələr: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https://ich.unesco.org/en/RL/nawrouz-novruz-nowrouz-nowrouz-nawrouz-nauryz-nooruz-nowruz-navruz-nevruz-nowruz-navruz-02097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https://ich.unesco.org/en/RL/culture-of-cay-tea-a-symbol-of-identity-hospitality-and-social-interaction-01685?RL=01685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https://azerbaijan.travel/lankaran-tea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Şəkil: istifadəçi tərəfindən təqdim edilib.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Mənbə: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https://ich.unesco.org/en/RL/dolma-making-and-sharing-tradition-a-marker-of-cultural-identity-01188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Şəkil: istifadəçi tərəfindən təqdim edilib.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Mənbələr: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https://ich.unesco.org/en/USL/kochari-traditional-group-dances-of-armenia-01190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https://ich.unesco.org/en/RL/craftsmanship-and-performance-art-of-the-tar-a-long-necked-string-musical-instrument-00671?RL=00671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https://ich.unesco.org/en/RL/art-of-crafting-and-playing-with-kamantcheh-kamancha-a-bowed-string-musical-instrument-01286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Şəkillər: istifadəçi tərəfindən təqdim edilib.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Mənbə:</a:t>
            </a:r>
          </a:p>
          <a:p xmlns:a="http://schemas.openxmlformats.org/drawingml/2006/main">
            <a:r>
              <a:t>https://ich.unesco.org/en/state/azerbaijan-AZ?info=elements-on-the-lists</a:t>
            </a:r>
          </a:p>
          <a:p xmlns:a="http://schemas.openxmlformats.org/drawingml/2006/main">
            <a:r>
              <a:t>Sonrakı nümunələrə 2017-ci ildə dolma və kamança, 2018-ci ildə isə yallı ilə bağlı qərar daxildir.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Əsas mənbə:</a:t>
            </a:r>
            <a:endParaRPr/>
          </a:p>
          <a:p xmlns:a="http://schemas.openxmlformats.org/drawingml/2006/main">
            <a:r>
              <a:t>https://ich.unesco.org/en/state/azerbaijan-AZ?info=elements-on-the-lists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6f4b0c29bf473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2aee8d60f344b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ecd9c7a8624f2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a97a5d032443f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bb54fa074d4bd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109beb1c43474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1ebceb574245b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2b39cb670647b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7dcc804869486b" /><Relationship Type="http://schemas.openxmlformats.org/officeDocument/2006/relationships/image" Target="/ppt/media/image.png" Id="Rf22eb10737bc425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9644b2f50a4bf5" /><Relationship Type="http://schemas.openxmlformats.org/officeDocument/2006/relationships/image" Target="/ppt/media/image2.png" Id="Rbb0c122405d64567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 b="1" i="0">
                <a:solidFill>
                  <a:schemeClr val="accent1"/>
                </a:solidFill>
                <a:latin typeface="Inter SemiBold"/>
                <a:ea typeface="Inter SemiBold"/>
                <a:cs typeface="Inter SemiBold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952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preserve="1" userDrawn="1">
  <p:cSld name="36 Field Grid">
    <p:bg>
      <p:bgPr>
        <a:blipFill xmlns:a="http://schemas.openxmlformats.org/drawingml/2006/main" rotWithShape="1">
          <a:blip xmlns:r="http://schemas.openxmlformats.org/officeDocument/2006/relationships" r:embed="Rf22eb10737bc425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48 Field Grid">
    <p:bg>
      <p:bgPr>
        <a:blipFill xmlns:a="http://schemas.openxmlformats.org/drawingml/2006/main" rotWithShape="1">
          <a:blip xmlns:r="http://schemas.openxmlformats.org/officeDocument/2006/relationships" r:embed="Rbb0c122405d6456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00632608784ac9" /><Relationship Type="http://schemas.openxmlformats.org/officeDocument/2006/relationships/slideLayout" Target="/ppt/slideLayouts/slideLayout1.xml" Id="Rdd95e4c9db244a97" /><Relationship Type="http://schemas.openxmlformats.org/officeDocument/2006/relationships/slideLayout" Target="/ppt/slideLayouts/slideLayout2.xml" Id="R046b8b9885b746ba" /><Relationship Type="http://schemas.openxmlformats.org/officeDocument/2006/relationships/slideLayout" Target="/ppt/slideLayouts/slideLayout3.xml" Id="Rdc91d7417a2d45ed" /><Relationship Type="http://schemas.openxmlformats.org/officeDocument/2006/relationships/slideLayout" Target="/ppt/slideLayouts/slideLayout4.xml" Id="Rb7159e7e83c24d02" /><Relationship Type="http://schemas.openxmlformats.org/officeDocument/2006/relationships/slideLayout" Target="/ppt/slideLayouts/slideLayout5.xml" Id="Ra27814d229b24136" /><Relationship Type="http://schemas.openxmlformats.org/officeDocument/2006/relationships/slideLayout" Target="/ppt/slideLayouts/slideLayout6.xml" Id="R08f7dd5be76d4660" /><Relationship Type="http://schemas.openxmlformats.org/officeDocument/2006/relationships/slideLayout" Target="/ppt/slideLayouts/slideLayout7.xml" Id="Re813c7e057d64704" /><Relationship Type="http://schemas.openxmlformats.org/officeDocument/2006/relationships/slideLayout" Target="/ppt/slideLayouts/slideLayout8.xml" Id="Re25ec061e6214327" /><Relationship Type="http://schemas.openxmlformats.org/officeDocument/2006/relationships/slideLayout" Target="/ppt/slideLayouts/slideLayout9.xml" Id="Rba24b5120bb340d2" /><Relationship Type="http://schemas.openxmlformats.org/officeDocument/2006/relationships/slideLayout" Target="/ppt/slideLayouts/slideLayout10.xml" Id="Rbfba2eb53589439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95e4c9db244a97"/>
    <p:sldLayoutId xmlns:r="http://schemas.openxmlformats.org/officeDocument/2006/relationships" id="2147483650" r:id="R046b8b9885b746ba"/>
    <p:sldLayoutId xmlns:r="http://schemas.openxmlformats.org/officeDocument/2006/relationships" id="2147483651" r:id="Rdc91d7417a2d45ed"/>
    <p:sldLayoutId xmlns:r="http://schemas.openxmlformats.org/officeDocument/2006/relationships" id="2147483652" r:id="Rb7159e7e83c24d02"/>
    <p:sldLayoutId xmlns:r="http://schemas.openxmlformats.org/officeDocument/2006/relationships" id="2147483653" r:id="Ra27814d229b24136"/>
    <p:sldLayoutId xmlns:r="http://schemas.openxmlformats.org/officeDocument/2006/relationships" id="2147483654" r:id="R08f7dd5be76d4660"/>
    <p:sldLayoutId xmlns:r="http://schemas.openxmlformats.org/officeDocument/2006/relationships" id="2147483655" r:id="Re813c7e057d64704"/>
    <p:sldLayoutId xmlns:r="http://schemas.openxmlformats.org/officeDocument/2006/relationships" id="2147483656" r:id="Re25ec061e6214327"/>
    <p:sldLayoutId xmlns:r="http://schemas.openxmlformats.org/officeDocument/2006/relationships" id="2147483657" r:id="Rba24b5120bb340d2"/>
    <p:sldLayoutId xmlns:r="http://schemas.openxmlformats.org/officeDocument/2006/relationships" id="2147483658" r:id="Rbfba2eb535894395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b="0" i="0" kern="1200">
          <a:solidFill>
            <a:schemeClr val="tx1"/>
          </a:solidFill>
          <a:latin typeface="Inter Medium"/>
          <a:ea typeface="Inter Medium"/>
          <a:cs typeface="Inter Medium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lor Block Theme">
      <a:dk1>
        <a:srgbClr val="000000"/>
      </a:dk1>
      <a:lt1>
        <a:srgbClr val="FFFFFF"/>
      </a:lt1>
      <a:dk2>
        <a:srgbClr val="393939"/>
      </a:dk2>
      <a:lt2>
        <a:srgbClr val="F5F5F5"/>
      </a:lt2>
      <a:accent1>
        <a:srgbClr val="2ED978"/>
      </a:accent1>
      <a:accent2>
        <a:srgbClr val="9FB6FE"/>
      </a:accent2>
      <a:accent3>
        <a:srgbClr val="F3F161"/>
      </a:accent3>
      <a:accent4>
        <a:srgbClr val="FF5F27"/>
      </a:accent4>
      <a:accent5>
        <a:srgbClr val="5EC4FF"/>
      </a:accent5>
      <a:accent6>
        <a:srgbClr val="3C7DA3"/>
      </a:accent6>
      <a:hlink>
        <a:srgbClr val="FFA83A"/>
      </a:hlink>
      <a:folHlink>
        <a:srgbClr val="96607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lor Block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b4c02b6ed74f75" /><Relationship Type="http://schemas.openxmlformats.org/officeDocument/2006/relationships/image" Target="/ppt/media/image3.png" Id="R8fb958d820b74412" /><Relationship Type="http://schemas.openxmlformats.org/officeDocument/2006/relationships/notesSlide" Target="/ppt/notesSlides/notesSlide1.xml" Id="Rc8af21f9496248b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564a9ea2a74c5e" /><Relationship Type="http://schemas.openxmlformats.org/officeDocument/2006/relationships/notesSlide" Target="/ppt/notesSlides/notesSlide2.xml" Id="R919a910630754d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008e1b85154f16" /><Relationship Type="http://schemas.openxmlformats.org/officeDocument/2006/relationships/image" Target="/ppt/media/image4.png" Id="Rc2af28804877456a" /><Relationship Type="http://schemas.openxmlformats.org/officeDocument/2006/relationships/notesSlide" Target="/ppt/notesSlides/notesSlide3.xml" Id="R56d7b5df08994e6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e46b3178a3e4962" /><Relationship Type="http://schemas.openxmlformats.org/officeDocument/2006/relationships/image" Target="/ppt/media/image5.png" Id="Re72c883b6ea64e3d" /><Relationship Type="http://schemas.openxmlformats.org/officeDocument/2006/relationships/image" Target="/ppt/media/image6.png" Id="R4c419b6303004883" /><Relationship Type="http://schemas.openxmlformats.org/officeDocument/2006/relationships/notesSlide" Target="/ppt/notesSlides/notesSlide4.xml" Id="Rd4633377d5e8451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a1a0f9edb04aeb" /><Relationship Type="http://schemas.openxmlformats.org/officeDocument/2006/relationships/image" Target="/ppt/media/image7.png" Id="R497daf15832d4d45" /><Relationship Type="http://schemas.openxmlformats.org/officeDocument/2006/relationships/notesSlide" Target="/ppt/notesSlides/notesSlide5.xml" Id="Rf9d38411629440d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ad1eb25a2e4f8a" /><Relationship Type="http://schemas.openxmlformats.org/officeDocument/2006/relationships/image" Target="/ppt/media/image8.png" Id="R67795a5278d942e6" /><Relationship Type="http://schemas.openxmlformats.org/officeDocument/2006/relationships/notesSlide" Target="/ppt/notesSlides/notesSlide6.xml" Id="Red728e046412429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b07acdd2744f35" /><Relationship Type="http://schemas.openxmlformats.org/officeDocument/2006/relationships/image" Target="/ppt/media/image9.png" Id="R15c8a8b6a45b4576" /><Relationship Type="http://schemas.openxmlformats.org/officeDocument/2006/relationships/notesSlide" Target="/ppt/notesSlides/notesSlide7.xml" Id="Rf0e9f56e5c3f4f1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d31ff594b9b046fa" /><Relationship Type="http://schemas.openxmlformats.org/officeDocument/2006/relationships/image" Target="/ppt/media/image10.png" Id="R1c5564a2a31e46e6" /><Relationship Type="http://schemas.openxmlformats.org/officeDocument/2006/relationships/image" Target="/ppt/media/image11.png" Id="R4cf5f09ed7a441ca" /><Relationship Type="http://schemas.openxmlformats.org/officeDocument/2006/relationships/notesSlide" Target="/ppt/notesSlides/notesSlide8.xml" Id="R1cdb8ffb88134c1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743d7874f664ebf" /><Relationship Type="http://schemas.openxmlformats.org/officeDocument/2006/relationships/notesSlide" Target="/ppt/notesSlides/notesSlide9.xml" Id="Re9d40dd02d77453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938126dcce4d4b" /><Relationship Type="http://schemas.openxmlformats.org/officeDocument/2006/relationships/image" Target="/ppt/media/image3.png" Id="R7712b6dbf51f47e2" /><Relationship Type="http://schemas.openxmlformats.org/officeDocument/2006/relationships/notesSlide" Target="/ppt/notesSlides/notesSlide10.xml" Id="R39613179c38a443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94324DD7-B2A7-C70F-0160-11F227D46A0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26339" y="449662"/>
            <a:ext cx="6730425" cy="2401447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0B4158"/>
                </a:solidFill>
                <a:latin typeface="Inter"/>
                <a:ea typeface="Inter"/>
                <a:cs typeface="Inter"/>
              </a:defRPr>
            </a:pPr>
            <a:r>
              <a:rPr sz="7200" b="1">
                <a:solidFill>
                  <a:srgbClr val="0B4158"/>
                </a:solidFill>
                <a:latin typeface="Inter"/>
                <a:ea typeface="Inter"/>
                <a:cs typeface="Inter"/>
              </a:rPr>
              <a:t>Azərbaycan</a:t>
            </a:r>
          </a:p>
          <a:p xmlns:a="http://schemas.openxmlformats.org/drawingml/2006/main">
            <a:pPr algn="l">
              <a:defRPr b="1">
                <a:solidFill>
                  <a:srgbClr val="0B4158"/>
                </a:solidFill>
                <a:latin typeface="Inter"/>
                <a:ea typeface="Inter"/>
                <a:cs typeface="Inter"/>
              </a:defRPr>
            </a:pPr>
            <a:r>
              <a:rPr sz="7200" b="1">
                <a:solidFill>
                  <a:srgbClr val="0B4158"/>
                </a:solidFill>
                <a:latin typeface="Inter"/>
                <a:ea typeface="Inter"/>
                <a:cs typeface="Inter"/>
              </a:rPr>
              <a:t>mədəniyyəti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43501A55-18E1-9822-7454-1E3D85380DC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42669" y="3564938"/>
            <a:ext cx="3758374" cy="614676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273E48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273E48"/>
                </a:solidFill>
                <a:latin typeface="Inter"/>
                <a:ea typeface="Inter"/>
                <a:cs typeface="Inter"/>
              </a:rPr>
              <a:t>Ənənə, sənət və gündəlik həyat</a:t>
            </a:r>
          </a:p>
        </p:txBody>
      </p:sp>
      <p:pic>
        <p:nvPicPr>
          <p:cNvPr id="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b958d820b74412"/>
          <a:srcRect xmlns:a="http://schemas.openxmlformats.org/drawingml/2006/main" l="0" t="25645" r="0" b="614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4763386"/>
            <a:ext cx="12190542" cy="209461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49616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BC152D0-CDF3-969A-A32E-0A1C97DA936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13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9CA28587-E9DB-FD6E-67D5-B6C4D20349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359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0B4158"/>
                </a:solidFill>
                <a:latin typeface="Inter"/>
                <a:ea typeface="Inter"/>
                <a:cs typeface="Inter"/>
              </a:defRPr>
            </a:pPr>
            <a:r>
              <a:rPr b="1">
                <a:solidFill>
                  <a:srgbClr val="0B4158"/>
                </a:solidFill>
                <a:latin typeface="Inter"/>
                <a:ea typeface="Inter"/>
                <a:cs typeface="Inter"/>
              </a:rPr>
              <a:t>Mədəniyyətlərin qovşağı</a:t>
            </a:r>
            <a:endParaRPr/>
          </a:p>
        </p:txBody>
      </p:sp>
      <p:sp>
        <p:nvSpPr>
          <p:cNvPr id="1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2575F3F3-5548-310C-CA8A-2BB5F4F1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9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b="0">
                <a:solidFill>
                  <a:srgbClr val="273E48"/>
                </a:solidFill>
                <a:latin typeface="Inter"/>
                <a:ea typeface="Inter"/>
                <a:cs typeface="Inter"/>
              </a:defRPr>
            </a:pPr>
            <a:r>
              <a:rPr sz="1600" b="0">
                <a:solidFill>
                  <a:srgbClr val="273E48"/>
                </a:solidFill>
                <a:latin typeface="Inter"/>
                <a:ea typeface="Inter"/>
                <a:cs typeface="Inter"/>
              </a:rPr>
              <a:t>Muğam, aşıq sənəti və xalq alətləri</a:t>
            </a:r>
          </a:p>
        </p:txBody>
      </p:sp>
      <p:sp>
        <p:nvSpPr>
          <p:cNvPr id="1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0C3B7B-28A7-FE2B-805B-9E84EA8C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23749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b="1">
                <a:solidFill>
                  <a:srgbClr val="179FE3"/>
                </a:solidFill>
                <a:latin typeface="Inter"/>
                <a:ea typeface="Inter"/>
                <a:cs typeface="Inter"/>
              </a:defRPr>
            </a:pPr>
            <a:r>
              <a:rPr sz="1600" b="1">
                <a:solidFill>
                  <a:srgbClr val="179FE3"/>
                </a:solidFill>
                <a:latin typeface="Inter"/>
                <a:ea typeface="Inter"/>
                <a:cs typeface="Inter"/>
              </a:rPr>
              <a:t>Musiqi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989BD75-DE8D-B290-9745-1D9E8821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5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b="0">
                <a:solidFill>
                  <a:srgbClr val="273E48"/>
                </a:solidFill>
                <a:latin typeface="Inter"/>
                <a:ea typeface="Inter"/>
                <a:cs typeface="Inter"/>
              </a:defRPr>
            </a:pPr>
            <a:r>
              <a:rPr sz="1600" b="0">
                <a:solidFill>
                  <a:srgbClr val="273E48"/>
                </a:solidFill>
                <a:latin typeface="Inter"/>
                <a:ea typeface="Inter"/>
                <a:cs typeface="Inter"/>
              </a:rPr>
              <a:t>Xalça, kəlağayı, ipək və təbii boyalar</a:t>
            </a:r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53F591C-9E43-179D-176D-24989B8B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33655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b="1">
                <a:solidFill>
                  <a:srgbClr val="179FE3"/>
                </a:solidFill>
                <a:latin typeface="Inter"/>
                <a:ea typeface="Inter"/>
                <a:cs typeface="Inter"/>
              </a:defRPr>
            </a:pPr>
            <a:r>
              <a:rPr sz="1600" b="1">
                <a:solidFill>
                  <a:srgbClr val="179FE3"/>
                </a:solidFill>
                <a:latin typeface="Inter"/>
                <a:ea typeface="Inter"/>
                <a:cs typeface="Inter"/>
              </a:rPr>
              <a:t>Sənətkarlıq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7B38CBA-379D-8AEA-4C18-49046133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1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b="0">
                <a:solidFill>
                  <a:srgbClr val="273E48"/>
                </a:solidFill>
                <a:latin typeface="Inter"/>
                <a:ea typeface="Inter"/>
                <a:cs typeface="Inter"/>
              </a:defRPr>
            </a:pPr>
            <a:r>
              <a:rPr sz="1600" b="0">
                <a:solidFill>
                  <a:srgbClr val="273E48"/>
                </a:solidFill>
                <a:latin typeface="Inter"/>
                <a:ea typeface="Inter"/>
                <a:cs typeface="Inter"/>
              </a:rPr>
              <a:t>Novruz, çay süfrəsi və qonaqpərvərlik</a:t>
            </a:r>
          </a:p>
        </p:txBody>
      </p:sp>
      <p:sp>
        <p:nvSpPr>
          <p:cNvPr id="1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58135D-EC8F-1FA0-D966-C8D4FA20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43561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b="1">
                <a:solidFill>
                  <a:srgbClr val="179FE3"/>
                </a:solidFill>
                <a:latin typeface="Inter"/>
                <a:ea typeface="Inter"/>
                <a:cs typeface="Inter"/>
              </a:defRPr>
            </a:pPr>
            <a:r>
              <a:rPr sz="1600" b="1">
                <a:solidFill>
                  <a:srgbClr val="179FE3"/>
                </a:solidFill>
                <a:latin typeface="Inter"/>
                <a:ea typeface="Inter"/>
                <a:cs typeface="Inter"/>
              </a:rPr>
              <a:t>Mərasim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9682F0D-6358-B00F-89D9-1AC37090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b="0">
                <a:solidFill>
                  <a:srgbClr val="273E48"/>
                </a:solidFill>
                <a:latin typeface="Inter"/>
                <a:ea typeface="Inter"/>
                <a:cs typeface="Inter"/>
              </a:defRPr>
            </a:pPr>
            <a:r>
              <a:rPr sz="1600" b="0">
                <a:solidFill>
                  <a:srgbClr val="273E48"/>
                </a:solidFill>
                <a:latin typeface="Inter"/>
                <a:ea typeface="Inter"/>
                <a:cs typeface="Inter"/>
              </a:rPr>
              <a:t>Plov, dolma, təndir çörəyi və şirniyyatlar</a:t>
            </a:r>
          </a:p>
        </p:txBody>
      </p:sp>
      <p:sp>
        <p:nvSpPr>
          <p:cNvPr id="2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58787E0-CB4B-BCAC-702A-ECD3032D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53594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 b="1">
                <a:solidFill>
                  <a:srgbClr val="179FE3"/>
                </a:solidFill>
                <a:latin typeface="Inter"/>
                <a:ea typeface="Inter"/>
                <a:cs typeface="Inter"/>
              </a:defRPr>
            </a:pPr>
            <a:r>
              <a:rPr sz="1600" b="1">
                <a:solidFill>
                  <a:srgbClr val="179FE3"/>
                </a:solidFill>
                <a:latin typeface="Inter"/>
                <a:ea typeface="Inter"/>
                <a:cs typeface="Inter"/>
              </a:rPr>
              <a:t>Mətbəx</a:t>
            </a:r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82CDA0F-E73C-7EBB-EE08-FECCE69C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1"/>
            <a:ext cx="3568700" cy="36194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lIns="0" tIns="0" rIns="0" bIns="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Aft>
                <a:spcPts val="900"/>
              </a:spcAft>
            </a:pPr>
            <a:r>
              <a:rPr sz="1900" b="1">
                <a:solidFill>
                  <a:srgbClr val="0B4158"/>
                </a:solidFill>
                <a:latin typeface="Inter"/>
                <a:ea typeface="Inter"/>
                <a:cs typeface="Inter"/>
              </a:rPr>
              <a:t>Canlı və çoxqatlı irs</a:t>
            </a:r>
          </a:p>
          <a:p xmlns:a="http://schemas.openxmlformats.org/drawingml/2006/main">
            <a:pPr>
              <a:spcAft>
                <a:spcPts val="800"/>
              </a:spcAft>
            </a:pPr>
            <a:r>
              <a:rPr sz="1350">
                <a:solidFill>
                  <a:srgbClr val="273E48"/>
                </a:solidFill>
                <a:latin typeface="Inter"/>
                <a:ea typeface="Inter"/>
                <a:cs typeface="Inter"/>
              </a:rPr>
              <a:t>Azərbaycan mədəniyyəti türk dünyası, islam sivilizasiyası və Qafqazın çoxsəsli mühitində formalaşıb.</a:t>
            </a:r>
          </a:p>
          <a:p xmlns:a="http://schemas.openxmlformats.org/drawingml/2006/main">
            <a:pPr>
              <a:spcAft>
                <a:spcPts val="0"/>
              </a:spcAft>
            </a:pPr>
            <a:r>
              <a:rPr sz="1350">
                <a:solidFill>
                  <a:srgbClr val="273E48"/>
                </a:solidFill>
                <a:latin typeface="Inter"/>
                <a:ea typeface="Inter"/>
                <a:cs typeface="Inter"/>
              </a:rPr>
              <a:t>Bu irs musiqidə improvizasiya, sənətdə naxış, süfrədə paylaşma, bayramlarda isə birlik kimi yaşayır.</a:t>
            </a:r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B4523B68-CB58-F426-D824-531128F4CB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</p:spTree>
    <p:extLst>
      <p:ext uri="{BB962C8B-B14F-4D97-AF65-F5344CB8AC3E}">
        <p14:creationId xmlns:p14="http://schemas.microsoft.com/office/powerpoint/2010/main" val="67611695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771FC40B-42E0-01F1-967E-AC436D19C06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1391498"/>
            <a:ext cx="5537200" cy="46029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</a:pPr>
            <a:r>
              <a:rPr sz="1800" b="1">
                <a:solidFill>
                  <a:srgbClr val="0B4158"/>
                </a:solidFill>
                <a:latin typeface="Inter"/>
                <a:ea typeface="Inter"/>
                <a:cs typeface="Inter"/>
              </a:rPr>
              <a:t>İmprovizasiya üzərində qurulan klassik sənət</a:t>
            </a:r>
          </a:p>
          <a:p xmlns:a="http://schemas.openxmlformats.org/drawingml/2006/main">
            <a:pPr>
              <a:spcAft>
                <a:spcPts val="800"/>
              </a:spcAft>
            </a:pPr>
            <a:r>
              <a:rPr sz="1350">
                <a:solidFill>
                  <a:srgbClr val="273E48"/>
                </a:solidFill>
                <a:latin typeface="Inter"/>
                <a:ea typeface="Inter"/>
                <a:cs typeface="Inter"/>
              </a:rPr>
              <a:t>Xanəndə melodik xətti tar, kamança və qavalın müşayiəti ilə sərbəst inkişaf etdirir. Eyni muğam hər ifada yeni çalar qazana bilər.</a:t>
            </a:r>
          </a:p>
          <a:p xmlns:a="http://schemas.openxmlformats.org/drawingml/2006/main">
            <a:pPr>
              <a:spcAft>
                <a:spcPts val="0"/>
              </a:spcAft>
            </a:pPr>
            <a:r>
              <a:rPr sz="1350">
                <a:solidFill>
                  <a:srgbClr val="273E48"/>
                </a:solidFill>
                <a:latin typeface="Inter"/>
                <a:ea typeface="Inter"/>
                <a:cs typeface="Inter"/>
              </a:rPr>
              <a:t>UNESCO Azərbaycan muğamını 2008-ci ildə Bəşəriyyətin Qeyri-maddi Mədəni İrsinin Reprezentativ Siyahısına daxil edib.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5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5529261" cy="6973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0B4158"/>
                </a:solidFill>
                <a:latin typeface="Inter"/>
                <a:ea typeface="Inter"/>
                <a:cs typeface="Inter"/>
              </a:defRPr>
            </a:pPr>
            <a:r>
              <a:rPr b="1">
                <a:solidFill>
                  <a:srgbClr val="0B4158"/>
                </a:solidFill>
                <a:latin typeface="Inter"/>
                <a:ea typeface="Inter"/>
                <a:cs typeface="Inter"/>
              </a:rPr>
              <a:t>Muğam</a:t>
            </a: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pic>
        <p:nvPicPr>
          <p:cNvPr id="5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af28804877456a"/>
          <a:srcRect xmlns:a="http://schemas.openxmlformats.org/drawingml/2006/main" l="0" t="321" r="0" b="3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40" y="396409"/>
            <a:ext cx="5539740" cy="560207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771FC40B-42E0-01F1-967E-AC436D19C06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1391498"/>
            <a:ext cx="5537200" cy="46029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</a:pPr>
            <a:r>
              <a:rPr sz="1800" b="1">
                <a:solidFill>
                  <a:srgbClr val="0B4158"/>
                </a:solidFill>
                <a:latin typeface="Inter"/>
                <a:ea typeface="Inter"/>
                <a:cs typeface="Inter"/>
              </a:rPr>
              <a:t>Naxışlarda yaddaş və məkan</a:t>
            </a:r>
          </a:p>
          <a:p xmlns:a="http://schemas.openxmlformats.org/drawingml/2006/main">
            <a:pPr>
              <a:spcAft>
                <a:spcPts val="800"/>
              </a:spcAft>
            </a:pPr>
            <a:r>
              <a:rPr sz="1300">
                <a:solidFill>
                  <a:srgbClr val="273E48"/>
                </a:solidFill>
                <a:latin typeface="Inter"/>
                <a:ea typeface="Inter"/>
                <a:cs typeface="Inter"/>
              </a:rPr>
              <a:t>Qarabağ, Quba, Şirvan, Gəncə, Qazax və Bakı məktəbləri rəng, kompozisiya və ornament dili ilə seçilir.</a:t>
            </a:r>
          </a:p>
          <a:p xmlns:a="http://schemas.openxmlformats.org/drawingml/2006/main">
            <a:pPr>
              <a:spcAft>
                <a:spcPts val="0"/>
              </a:spcAft>
            </a:pPr>
            <a:r>
              <a:rPr sz="1300">
                <a:solidFill>
                  <a:srgbClr val="273E48"/>
                </a:solidFill>
                <a:latin typeface="Inter"/>
                <a:ea typeface="Inter"/>
                <a:cs typeface="Inter"/>
              </a:rPr>
              <a:t>Yun, pambıq və ipək saplar müxtəlif texnikalarla toxunur. Sənət ailə daxilində müşahidə və təcrübə yolu ilə ötürülür. UNESCO bu ənənəni 2010-cu ildə siyahıya daxil edib.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5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5529261" cy="6973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0B4158"/>
                </a:solidFill>
                <a:latin typeface="Inter"/>
                <a:ea typeface="Inter"/>
                <a:cs typeface="Inter"/>
              </a:defRPr>
            </a:pPr>
            <a:r>
              <a:rPr b="1">
                <a:solidFill>
                  <a:srgbClr val="0B4158"/>
                </a:solidFill>
                <a:latin typeface="Inter"/>
                <a:ea typeface="Inter"/>
                <a:cs typeface="Inter"/>
              </a:rPr>
              <a:t>Xalçaçılıq</a:t>
            </a: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pic>
        <p:nvPicPr>
          <p:cNvPr id="5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2c883b6ea64e3d"/>
          <a:srcRect xmlns:a="http://schemas.openxmlformats.org/drawingml/2006/main" l="17092" t="0" r="1709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40" y="396409"/>
            <a:ext cx="5539740" cy="5602070"/>
          </a:xfrm>
          <a:prstGeom xmlns:a="http://schemas.openxmlformats.org/drawingml/2006/main" prst="roundRect">
            <a:avLst/>
          </a:prstGeom>
        </p:spPr>
      </p:pic>
      <p:pic>
        <p:nvPicPr>
          <p:cNvPr id="5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419b6303004883"/>
          <a:srcRect xmlns:a="http://schemas.openxmlformats.org/drawingml/2006/main" l="0" t="4716" r="0" b="47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58300" y="4171950"/>
            <a:ext cx="2247900" cy="1524000"/>
          </a:xfrm>
          <a:prstGeom xmlns:a="http://schemas.openxmlformats.org/drawingml/2006/main" prst="roundRect">
            <a:avLst>
              <a:gd name="adj" fmla="val 7500"/>
            </a:avLst>
          </a:prstGeom>
        </p:spPr>
      </p:pic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771FC40B-42E0-01F1-967E-AC436D19C06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1391498"/>
            <a:ext cx="5537200" cy="46029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</a:pPr>
            <a:r>
              <a:rPr sz="1800" b="1">
                <a:solidFill>
                  <a:srgbClr val="0B4158"/>
                </a:solidFill>
                <a:latin typeface="Inter"/>
                <a:ea typeface="Inter"/>
                <a:cs typeface="Inter"/>
              </a:rPr>
              <a:t>İpək üzərində simvol və rəng</a:t>
            </a:r>
          </a:p>
          <a:p xmlns:a="http://schemas.openxmlformats.org/drawingml/2006/main">
            <a:pPr>
              <a:spcAft>
                <a:spcPts val="800"/>
              </a:spcAft>
            </a:pPr>
            <a:r>
              <a:rPr sz="1350">
                <a:solidFill>
                  <a:srgbClr val="273E48"/>
                </a:solidFill>
                <a:latin typeface="Inter"/>
                <a:ea typeface="Inter"/>
                <a:cs typeface="Inter"/>
              </a:rPr>
              <a:t>Kəlağayı qəlib, isti mum və boya ilə bəzədilən ənənəvi ipək baş örtüyüdür. Buta, nəbati və həndəsi motivlər onun vizual dilini yaradır.</a:t>
            </a:r>
          </a:p>
          <a:p xmlns:a="http://schemas.openxmlformats.org/drawingml/2006/main">
            <a:pPr>
              <a:spcAft>
                <a:spcPts val="0"/>
              </a:spcAft>
            </a:pPr>
            <a:r>
              <a:rPr sz="1350">
                <a:solidFill>
                  <a:srgbClr val="273E48"/>
                </a:solidFill>
                <a:latin typeface="Inter"/>
                <a:ea typeface="Inter"/>
                <a:cs typeface="Inter"/>
              </a:rPr>
              <a:t>Sənət xüsusilə Şəki və Basqal ilə bağlıdır. UNESCO kəlağayının hazırlanması və istifadə ənənəsini 2014-cü ildə Reprezentativ Siyahıya daxil edib.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5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5529261" cy="6973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0B4158"/>
                </a:solidFill>
                <a:latin typeface="Inter"/>
                <a:ea typeface="Inter"/>
                <a:cs typeface="Inter"/>
              </a:defRPr>
            </a:pPr>
            <a:r>
              <a:rPr b="1">
                <a:solidFill>
                  <a:srgbClr val="0B4158"/>
                </a:solidFill>
                <a:latin typeface="Inter"/>
                <a:ea typeface="Inter"/>
                <a:cs typeface="Inter"/>
              </a:rPr>
              <a:t>Kəlağayı</a:t>
            </a: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pic>
        <p:nvPicPr>
          <p:cNvPr id="5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7daf15832d4d45"/>
          <a:srcRect xmlns:a="http://schemas.openxmlformats.org/drawingml/2006/main" l="0" t="9550" r="0" b="95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40" y="396409"/>
            <a:ext cx="5539740" cy="560207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771FC40B-42E0-01F1-967E-AC436D19C06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1391498"/>
            <a:ext cx="5537200" cy="46029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</a:pPr>
            <a:r>
              <a:rPr sz="1800" b="1">
                <a:solidFill>
                  <a:srgbClr val="0B4158"/>
                </a:solidFill>
                <a:latin typeface="Inter"/>
                <a:ea typeface="Inter"/>
                <a:cs typeface="Inter"/>
              </a:rPr>
              <a:t>Yenilənmə və birlik mərasimi</a:t>
            </a:r>
          </a:p>
          <a:p xmlns:a="http://schemas.openxmlformats.org/drawingml/2006/main">
            <a:pPr>
              <a:spcAft>
                <a:spcPts val="800"/>
              </a:spcAft>
            </a:pPr>
            <a:r>
              <a:rPr sz="1280">
                <a:solidFill>
                  <a:srgbClr val="273E48"/>
                </a:solidFill>
                <a:latin typeface="Inter"/>
                <a:ea typeface="Inter"/>
                <a:cs typeface="Inter"/>
              </a:rPr>
              <a:t>Novruz yazın gəlişini qarşılayır. Səməni, tonqal, bayram süfrəsi, papaqatdı və ailə ziyarətləri təbiətin yenilənməsini ictimai birliklə bağlayır.</a:t>
            </a:r>
          </a:p>
          <a:p xmlns:a="http://schemas.openxmlformats.org/drawingml/2006/main">
            <a:pPr>
              <a:spcAft>
                <a:spcPts val="0"/>
              </a:spcAft>
            </a:pPr>
            <a:r>
              <a:rPr sz="1280">
                <a:solidFill>
                  <a:srgbClr val="273E48"/>
                </a:solidFill>
                <a:latin typeface="Inter"/>
                <a:ea typeface="Inter"/>
                <a:cs typeface="Inter"/>
              </a:rPr>
              <a:t>Qonağa armudu stəkanda çay, mürəbbə və şirniyyat təqdim etmək hörmət və ünsiyyət ənənəsidir. Azərbaycan və Türkiyənin çay mədəniyyəti UNESCO siyahısına 2022-ci ildə daxil edilib.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5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5529261" cy="6973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0B4158"/>
                </a:solidFill>
                <a:latin typeface="Inter"/>
                <a:ea typeface="Inter"/>
                <a:cs typeface="Inter"/>
              </a:defRPr>
            </a:pPr>
            <a:r>
              <a:rPr b="1">
                <a:solidFill>
                  <a:srgbClr val="0B4158"/>
                </a:solidFill>
                <a:latin typeface="Inter"/>
                <a:ea typeface="Inter"/>
                <a:cs typeface="Inter"/>
              </a:rPr>
              <a:t>Novruz və qonaqpərvərlik</a:t>
            </a: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pic>
        <p:nvPicPr>
          <p:cNvPr id="5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795a5278d942e6"/>
          <a:srcRect xmlns:a="http://schemas.openxmlformats.org/drawingml/2006/main" l="15319" t="0" r="153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40" y="396409"/>
            <a:ext cx="5539740" cy="560207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0D982DB-B102-71B9-EDF4-3738A0B3680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1638300"/>
            <a:ext cx="3568700" cy="43560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</a:pPr>
            <a:r>
              <a:rPr sz="1800" b="1">
                <a:solidFill>
                  <a:srgbClr val="0B4158"/>
                </a:solidFill>
                <a:latin typeface="Inter"/>
                <a:ea typeface="Inter"/>
                <a:cs typeface="Inter"/>
              </a:rPr>
              <a:t>Süfrə paylaşma mədəniyyətidir</a:t>
            </a:r>
          </a:p>
          <a:p xmlns:a="http://schemas.openxmlformats.org/drawingml/2006/main">
            <a:pPr>
              <a:spcAft>
                <a:spcPts val="800"/>
              </a:spcAft>
            </a:pPr>
            <a:r>
              <a:rPr sz="1250">
                <a:solidFill>
                  <a:srgbClr val="273E48"/>
                </a:solidFill>
                <a:latin typeface="Inter"/>
                <a:ea typeface="Inter"/>
                <a:cs typeface="Inter"/>
              </a:rPr>
              <a:t>Plov zəfəranlı düyü, qazmaq və ayrıca hazırlanan qara ilə təqdim olunur. Bölgələrə görə tərkibi və servis üslubu dəyişir.</a:t>
            </a:r>
          </a:p>
          <a:p xmlns:a="http://schemas.openxmlformats.org/drawingml/2006/main">
            <a:pPr>
              <a:spcAft>
                <a:spcPts val="800"/>
              </a:spcAft>
            </a:pPr>
            <a:r>
              <a:rPr sz="1250">
                <a:solidFill>
                  <a:srgbClr val="273E48"/>
                </a:solidFill>
                <a:latin typeface="Inter"/>
                <a:ea typeface="Inter"/>
                <a:cs typeface="Inter"/>
              </a:rPr>
              <a:t>Dolmada içlik yarpağa bükülür və ya tərəvəzə doldurulur. UNESCO dolma hazırlama və paylaşma ənənəsini 2017-ci ildə siyahıya daxil edib.</a:t>
            </a:r>
          </a:p>
          <a:p xmlns:a="http://schemas.openxmlformats.org/drawingml/2006/main">
            <a:pPr>
              <a:spcAft>
                <a:spcPts val="0"/>
              </a:spcAft>
            </a:pPr>
            <a:r>
              <a:rPr sz="1250">
                <a:solidFill>
                  <a:srgbClr val="273E48"/>
                </a:solidFill>
                <a:latin typeface="Inter"/>
                <a:ea typeface="Inter"/>
                <a:cs typeface="Inter"/>
              </a:rPr>
              <a:t>Paxlava, şəkərbura və qoğal xüsusilə Novruz süfrəsinin tanınan şirniyyatlarıdır.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3D911AFA-A941-75BF-FE8A-5289E197747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6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C055269-43CF-5537-A1B0-DC932A8FB1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3568700" cy="9005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0B4158"/>
                </a:solidFill>
                <a:latin typeface="Inter"/>
                <a:ea typeface="Inter"/>
                <a:cs typeface="Inter"/>
              </a:defRPr>
            </a:pPr>
            <a:r>
              <a:rPr b="1">
                <a:solidFill>
                  <a:srgbClr val="0B4158"/>
                </a:solidFill>
                <a:latin typeface="Inter"/>
                <a:ea typeface="Inter"/>
                <a:cs typeface="Inter"/>
              </a:rPr>
              <a:t>Azərbaycan mətbəxi</a:t>
            </a:r>
            <a:endParaRPr/>
          </a:p>
        </p:txBody>
      </p:sp>
      <p:sp>
        <p:nvSpPr>
          <p:cNvPr id="2" name="object 3">
            <a:extLst xmlns:a="http://schemas.openxmlformats.org/drawingml/2006/main">
              <a:ext uri="{FF2B5EF4-FFF2-40B4-BE49-F238E27FC236}">
                <a16:creationId xmlns:a16="http://schemas.microsoft.com/office/drawing/2014/main" id="{5FDA4427-F2DF-5DB2-AE39-D904C104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7896"/>
            <a:ext cx="7499261" cy="5606415"/>
          </a:xfrm>
          <a:custGeom xmlns:a="http://schemas.openxmlformats.org/drawingml/2006/main">
            <a:rect l="l" t="t" r="r" b="b"/>
            <a:pathLst>
              <a:path w="7386319" h="7475220">
                <a:moveTo>
                  <a:pt x="7385710" y="0"/>
                </a:moveTo>
                <a:lnTo>
                  <a:pt x="0" y="0"/>
                </a:lnTo>
                <a:lnTo>
                  <a:pt x="0" y="7474610"/>
                </a:lnTo>
                <a:lnTo>
                  <a:pt x="7385710" y="7474610"/>
                </a:lnTo>
                <a:lnTo>
                  <a:pt x="7385710" y="0"/>
                </a:lnTo>
                <a:close/>
              </a:path>
            </a:pathLst>
          </a:custGeom>
          <a:solidFill xmlns:a="http://schemas.openxmlformats.org/drawingml/2006/main">
            <a:srgbClr val="EDED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 sz="1350"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74612A72-3676-A3F7-8578-975B86130C8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pic>
        <p:nvPicPr>
          <p:cNvPr id="5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c8a8b6a45b4576"/>
          <a:srcRect xmlns:a="http://schemas.openxmlformats.org/drawingml/2006/main" l="12580" t="0" r="1258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5300" y="396409"/>
            <a:ext cx="7503480" cy="560207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65731922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B4069B76-F483-69FE-5E50-3A7313DC6D1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</a:pPr>
            <a:r>
              <a:rPr sz="1700" b="1">
                <a:solidFill>
                  <a:srgbClr val="0B4158"/>
                </a:solidFill>
                <a:latin typeface="Inter"/>
                <a:ea typeface="Inter"/>
                <a:cs typeface="Inter"/>
              </a:rPr>
              <a:t>Yallı</a:t>
            </a:r>
          </a:p>
          <a:p xmlns:a="http://schemas.openxmlformats.org/drawingml/2006/main">
            <a:pPr>
              <a:spcAft>
                <a:spcPts val="0"/>
              </a:spcAft>
            </a:pPr>
            <a:r>
              <a:rPr sz="1220">
                <a:solidFill>
                  <a:srgbClr val="273E48"/>
                </a:solidFill>
                <a:latin typeface="Inter"/>
                <a:ea typeface="Inter"/>
                <a:cs typeface="Inter"/>
              </a:rPr>
              <a:t>İştirakçılar dairə, zəncir və ya sıra şəklində birlikdə hərəkət edirlər. Naxçıvanın yallı ənənəsi 2018-ci ildən UNESCO-nun Təcili Qorunmaya Ehtiyacı Olan İrs Siyahısındadır.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642C7FCC-86E7-F5EC-CF92-EC13CA3E8A9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17</a:t>
            </a:fld>
            <a:endParaRPr/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B408DEBE-7CF4-03DE-7F3D-886627F115F6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4013200"/>
            <a:ext cx="3568700" cy="1981200"/>
          </a:xfrm>
        </p:spPr>
        <p:txBody>
          <a:bodyPr xmlns:a="http://schemas.openxmlformats.org/drawingml/2006/main" anchor="t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</a:pPr>
            <a:r>
              <a:rPr sz="1700" b="1">
                <a:solidFill>
                  <a:srgbClr val="0B4158"/>
                </a:solidFill>
                <a:latin typeface="Inter"/>
                <a:ea typeface="Inter"/>
                <a:cs typeface="Inter"/>
              </a:rPr>
              <a:t>Tar</a:t>
            </a:r>
          </a:p>
          <a:p xmlns:a="http://schemas.openxmlformats.org/drawingml/2006/main">
            <a:pPr>
              <a:spcAft>
                <a:spcPts val="0"/>
              </a:spcAft>
            </a:pPr>
            <a:r>
              <a:rPr sz="1220">
                <a:solidFill>
                  <a:srgbClr val="273E48"/>
                </a:solidFill>
                <a:latin typeface="Inter"/>
                <a:ea typeface="Inter"/>
                <a:cs typeface="Inter"/>
              </a:rPr>
              <a:t>Uzunqollu simli alət muğamın əsas səs dayaqlarındandır. Azərbaycanda tarın hazırlanması və ifa sənəti 2012-ci ildə UNESCO siyahısına daxil edilib.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E357F93-C3C2-23D6-9524-2C2ACDCF6D75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67" y="1466850"/>
            <a:ext cx="3568732" cy="4524375"/>
          </a:xfrm>
        </p:spPr>
        <p:txBody>
          <a:bodyPr xmlns:a="http://schemas.openxmlformats.org/drawingml/2006/main" anchor="t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>
              <a:spcAft>
                <a:spcPts val="1000"/>
              </a:spcAft>
            </a:pPr>
            <a:r>
              <a:rPr sz="3000" b="1">
                <a:solidFill>
                  <a:srgbClr val="179FE3"/>
                </a:solidFill>
                <a:latin typeface="Inter"/>
                <a:ea typeface="Inter"/>
                <a:cs typeface="Inter"/>
              </a:rPr>
              <a:t>4 simli</a:t>
            </a:r>
          </a:p>
          <a:p xmlns:a="http://schemas.openxmlformats.org/drawingml/2006/main">
            <a:pPr>
              <a:spcAft>
                <a:spcPts val="900"/>
              </a:spcAft>
            </a:pPr>
            <a:r>
              <a:rPr sz="1800" b="1">
                <a:solidFill>
                  <a:srgbClr val="0B4158"/>
                </a:solidFill>
                <a:latin typeface="Inter"/>
                <a:ea typeface="Inter"/>
                <a:cs typeface="Inter"/>
              </a:rPr>
              <a:t>Kamança</a:t>
            </a:r>
          </a:p>
          <a:p xmlns:a="http://schemas.openxmlformats.org/drawingml/2006/main">
            <a:r>
              <a:rPr sz="1300">
                <a:solidFill>
                  <a:srgbClr val="273E48"/>
                </a:solidFill>
                <a:latin typeface="Inter"/>
                <a:ea typeface="Inter"/>
                <a:cs typeface="Inter"/>
              </a:rPr>
              <a:t>Yayla ifa olunan kamança klassik və folklor musiqisində mühüm yer tutur. Azərbaycan və İran bu sənəti 2017-ci ildə UNESCO siyahısına birgə təqdim edib.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4BDA96D-2BD4-0A74-3D12-0FFADFFA35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11404600" cy="6973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0B4158"/>
                </a:solidFill>
                <a:latin typeface="Inter"/>
                <a:ea typeface="Inter"/>
                <a:cs typeface="Inter"/>
              </a:defRPr>
            </a:pPr>
            <a:r>
              <a:rPr b="1">
                <a:solidFill>
                  <a:srgbClr val="0B4158"/>
                </a:solidFill>
                <a:latin typeface="Inter"/>
                <a:ea typeface="Inter"/>
                <a:cs typeface="Inter"/>
              </a:rPr>
              <a:t>Xalq rəqsləri və musiqi alətləri</a:t>
            </a:r>
            <a:endParaRPr/>
          </a:p>
        </p:txBody>
      </p:sp>
      <p:sp>
        <p:nvSpPr>
          <p:cNvPr id="14" name="Footer Placeholder 13">
            <a:extLst xmlns:a="http://schemas.openxmlformats.org/drawingml/2006/main">
              <a:ext uri="{FF2B5EF4-FFF2-40B4-BE49-F238E27FC236}">
                <a16:creationId xmlns:a16="http://schemas.microsoft.com/office/drawing/2014/main" id="{6A97BA39-A4A0-86E1-DC4D-EC4DAE78E87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pic>
        <p:nvPicPr>
          <p:cNvPr id="5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5564a2a31e46e6"/>
          <a:srcRect xmlns:a="http://schemas.openxmlformats.org/drawingml/2006/main" l="0" t="4266" r="0" b="42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700" y="1384299"/>
            <a:ext cx="3578727" cy="2324099"/>
          </a:xfrm>
          <a:prstGeom xmlns:a="http://schemas.openxmlformats.org/drawingml/2006/main" prst="roundRect">
            <a:avLst/>
          </a:prstGeom>
        </p:spPr>
      </p:pic>
      <p:pic>
        <p:nvPicPr>
          <p:cNvPr id="5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f5f09ed7a441c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3964" y="1384299"/>
            <a:ext cx="3578727" cy="2324099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07536205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BCC789E-87DC-C416-5298-C7F6E26A953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3822700"/>
            <a:ext cx="2595934" cy="1168400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</a:pPr>
            <a:r>
              <a:rPr sz="1700" b="1">
                <a:solidFill>
                  <a:srgbClr val="0B4158"/>
                </a:solidFill>
                <a:latin typeface="Inter"/>
                <a:ea typeface="Inter"/>
                <a:cs typeface="Inter"/>
              </a:rPr>
              <a:t>Muğam</a:t>
            </a:r>
          </a:p>
          <a:p xmlns:a="http://schemas.openxmlformats.org/drawingml/2006/main">
            <a:pPr>
              <a:spcAft>
                <a:spcPts val="0"/>
              </a:spcAft>
            </a:pPr>
            <a:r>
              <a:rPr sz="1220">
                <a:solidFill>
                  <a:srgbClr val="273E48"/>
                </a:solidFill>
                <a:latin typeface="Inter"/>
                <a:ea typeface="Inter"/>
                <a:cs typeface="Inter"/>
              </a:rPr>
              <a:t>İmprovizasiya və ustad-şagird ənənəsi beynəlxalq səviyyədə tanındı.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BBF0163-E4B1-61D1-776D-45470B16F0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574A810-7A8E-054F-9F6B-09E9C694ECF9}" type="slidenum">
              <a:t>14</a:t>
            </a:fld>
            <a:endParaRPr sz="1100"/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46838" cy="1034893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0B4158"/>
                </a:solidFill>
                <a:latin typeface="Inter"/>
                <a:ea typeface="Inter"/>
                <a:cs typeface="Inter"/>
              </a:defRPr>
            </a:pPr>
            <a:r>
              <a:rPr b="1">
                <a:solidFill>
                  <a:srgbClr val="0B4158"/>
                </a:solidFill>
                <a:latin typeface="Inter"/>
                <a:ea typeface="Inter"/>
                <a:cs typeface="Inter"/>
              </a:rPr>
              <a:t>UNESCO siyahısında Azərbaycan irsi</a:t>
            </a:r>
          </a:p>
        </p:txBody>
      </p:sp>
      <p:sp>
        <p:nvSpPr>
          <p:cNvPr id="1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986AEEE5-7F7B-65AD-1D88-9157CF0514D8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4317119" y="3822700"/>
            <a:ext cx="2595934" cy="1168400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</a:pPr>
            <a:r>
              <a:rPr sz="1700" b="1">
                <a:solidFill>
                  <a:srgbClr val="0B4158"/>
                </a:solidFill>
                <a:latin typeface="Inter"/>
                <a:ea typeface="Inter"/>
                <a:cs typeface="Inter"/>
              </a:rPr>
              <a:t>Xalçaçılıq</a:t>
            </a:r>
          </a:p>
          <a:p xmlns:a="http://schemas.openxmlformats.org/drawingml/2006/main">
            <a:pPr>
              <a:spcAft>
                <a:spcPts val="0"/>
              </a:spcAft>
            </a:pPr>
            <a:r>
              <a:rPr sz="1220">
                <a:solidFill>
                  <a:srgbClr val="273E48"/>
                </a:solidFill>
                <a:latin typeface="Inter"/>
                <a:ea typeface="Inter"/>
                <a:cs typeface="Inter"/>
              </a:rPr>
              <a:t>Toxuculuq bilikləri, regional naxışlar və ailədaxili ötürmə qeyd edildi.</a:t>
            </a:r>
          </a:p>
        </p:txBody>
      </p:sp>
      <p:sp>
        <p:nvSpPr>
          <p:cNvPr id="18" name="Content Placeholder 17">
            <a:extLst xmlns:a="http://schemas.openxmlformats.org/drawingml/2006/main">
              <a:ext uri="{FF2B5EF4-FFF2-40B4-BE49-F238E27FC236}">
                <a16:creationId xmlns:a16="http://schemas.microsoft.com/office/drawing/2014/main" id="{B32A8A18-E9FA-02B4-6667-53C019EC43C0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8240538" y="3822700"/>
            <a:ext cx="2595934" cy="1168400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</a:pPr>
            <a:r>
              <a:rPr sz="1700" b="1">
                <a:solidFill>
                  <a:srgbClr val="0B4158"/>
                </a:solidFill>
                <a:latin typeface="Inter"/>
                <a:ea typeface="Inter"/>
                <a:cs typeface="Inter"/>
              </a:rPr>
              <a:t>Kəlağayı</a:t>
            </a:r>
          </a:p>
          <a:p xmlns:a="http://schemas.openxmlformats.org/drawingml/2006/main">
            <a:pPr>
              <a:spcAft>
                <a:spcPts val="0"/>
              </a:spcAft>
            </a:pPr>
            <a:r>
              <a:rPr sz="1220">
                <a:solidFill>
                  <a:srgbClr val="273E48"/>
                </a:solidFill>
                <a:latin typeface="Inter"/>
                <a:ea typeface="Inter"/>
                <a:cs typeface="Inter"/>
              </a:rPr>
              <a:t>Şəki və Basqal ipəkçiliyinin sənətkarlıq və simvolika irsi siyahıya daxil edildi.</a:t>
            </a:r>
          </a:p>
        </p:txBody>
      </p:sp>
      <p:cxnSp>
        <p:nvCxnSpPr>
          <p:cNvPr id="24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337718" y="3373753"/>
            <a:ext cx="12245400" cy="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39A86B1D-EA5D-3FA6-7D83-8F21D70E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8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A1013DAF-A2C3-BC42-73D5-9D8AB55D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6" name="Google Shape;2262;p159">
            <a:extLst xmlns:a="http://schemas.openxmlformats.org/drawingml/2006/main">
              <a:ext uri="{FF2B5EF4-FFF2-40B4-BE49-F238E27FC236}">
                <a16:creationId xmlns:a16="http://schemas.microsoft.com/office/drawing/2014/main" id="{4654A74A-2C40-A8C6-E9F9-43C58A3A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C75857-E8EA-1B37-0464-3C7048D7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b="1">
                <a:solidFill>
                  <a:srgbClr val="179FE3"/>
                </a:solidFill>
                <a:latin typeface="Inter"/>
                <a:ea typeface="Inter"/>
                <a:cs typeface="Inter"/>
              </a:defRPr>
            </a:pPr>
            <a:r>
              <a:rPr sz="1400" b="1">
                <a:solidFill>
                  <a:srgbClr val="179FE3"/>
                </a:solidFill>
                <a:latin typeface="Inter"/>
                <a:ea typeface="Inter"/>
                <a:cs typeface="Inter"/>
              </a:rPr>
              <a:t>2008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AEECBA-C292-6302-8A8E-7EB14A54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87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b="1">
                <a:solidFill>
                  <a:srgbClr val="179FE3"/>
                </a:solidFill>
                <a:latin typeface="Inter"/>
                <a:ea typeface="Inter"/>
                <a:cs typeface="Inter"/>
              </a:defRPr>
            </a:pPr>
            <a:r>
              <a:rPr sz="1400" b="1">
                <a:solidFill>
                  <a:srgbClr val="179FE3"/>
                </a:solidFill>
                <a:latin typeface="Inter"/>
                <a:ea typeface="Inter"/>
                <a:cs typeface="Inter"/>
              </a:rPr>
              <a:t>2010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5982BB0-2387-9BAA-9F14-F45500C0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49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b="1">
                <a:solidFill>
                  <a:srgbClr val="179FE3"/>
                </a:solidFill>
                <a:latin typeface="Inter"/>
                <a:ea typeface="Inter"/>
                <a:cs typeface="Inter"/>
              </a:defRPr>
            </a:pPr>
            <a:r>
              <a:rPr sz="1400" b="1">
                <a:solidFill>
                  <a:srgbClr val="179FE3"/>
                </a:solidFill>
                <a:latin typeface="Inter"/>
                <a:ea typeface="Inter"/>
                <a:cs typeface="Inter"/>
              </a:rPr>
              <a:t>2014</a:t>
            </a: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AC3A10F-8642-8154-9AEA-7110D289C62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A6A4A8C5-2601-85AD-3D1E-8079D58F035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26339" y="449662"/>
            <a:ext cx="6730425" cy="2401447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0B4158"/>
                </a:solidFill>
                <a:latin typeface="Inter"/>
                <a:ea typeface="Inter"/>
                <a:cs typeface="Inter"/>
              </a:defRPr>
            </a:pPr>
            <a:r>
              <a:rPr sz="7200" b="1">
                <a:solidFill>
                  <a:srgbClr val="0B4158"/>
                </a:solidFill>
                <a:latin typeface="Inter"/>
                <a:ea typeface="Inter"/>
                <a:cs typeface="Inter"/>
              </a:rPr>
              <a:t>Təşəkkürlər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0268A511-4B27-6E46-7765-2247D8E6C20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42669" y="3564938"/>
            <a:ext cx="3758374" cy="614676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273E48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273E48"/>
                </a:solidFill>
                <a:latin typeface="Inter"/>
                <a:ea typeface="Inter"/>
                <a:cs typeface="Inter"/>
              </a:rPr>
              <a:t>Azərbaycan mədəniyyəti canlı irsdir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A7725E9-20F2-2EAF-9816-0D2FEFF0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234" y="-5234152"/>
            <a:ext cx="184731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4B2C8E6-2382-F1A6-A0C1-A7364007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554014" y="-3090041"/>
            <a:ext cx="184731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2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12b6dbf51f47e2"/>
          <a:srcRect xmlns:a="http://schemas.openxmlformats.org/drawingml/2006/main" l="0" t="25645" r="0" b="614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4763386"/>
            <a:ext cx="12192000" cy="209461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949709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lor Block Theme">
      <a:dk1>
        <a:srgbClr val="000000"/>
      </a:dk1>
      <a:lt1>
        <a:srgbClr val="FFFFFF"/>
      </a:lt1>
      <a:dk2>
        <a:srgbClr val="393939"/>
      </a:dk2>
      <a:lt2>
        <a:srgbClr val="F5F5F5"/>
      </a:lt2>
      <a:accent1>
        <a:srgbClr val="2ED978"/>
      </a:accent1>
      <a:accent2>
        <a:srgbClr val="9FB6FE"/>
      </a:accent2>
      <a:accent3>
        <a:srgbClr val="F3F161"/>
      </a:accent3>
      <a:accent4>
        <a:srgbClr val="FF5F27"/>
      </a:accent4>
      <a:accent5>
        <a:srgbClr val="5EC4FF"/>
      </a:accent5>
      <a:accent6>
        <a:srgbClr val="3C7DA3"/>
      </a:accent6>
      <a:hlink>
        <a:srgbClr val="FFA83A"/>
      </a:hlink>
      <a:folHlink>
        <a:srgbClr val="96607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lor Block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2026-09-07T17:52:52.6340000Z</dcterms:created>
  <dcterms:modified xsi:type="dcterms:W3CDTF">2026-09-07T17:52:52.6340000Z</dcterms:modified>
</coreProperties>
</file>